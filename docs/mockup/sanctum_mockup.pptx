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371600"/>
            <a:ext cx="7315200" cy="4572000"/>
          </a:xfrm>
          <a:prstGeom prst="ellipse">
            <a:avLst/>
          </a:prstGeom>
          <a:solidFill>
            <a:srgbClr val="4F56F1">
              <a:alpha val="15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41064" y="502920"/>
            <a:ext cx="1261872" cy="1261872"/>
          </a:xfrm>
          <a:prstGeom prst="roundRect">
            <a:avLst>
              <a:gd name="adj" fmla="val 13043"/>
            </a:avLst>
          </a:prstGeom>
          <a:solidFill>
            <a:srgbClr val="4F56F1"/>
          </a:solidFill>
          <a:ln/>
          <a:effectLst>
            <a:outerShdw sx="100000" sy="100000" kx="0" ky="0" algn="bl" rotWithShape="0" blurRad="254000" dist="50800" dir="8100000">
              <a:srgbClr val="4F56F1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41064" y="502920"/>
            <a:ext cx="1261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Welcome to Sanctum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0" y="24505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4"/>
                </a:solidFill>
              </a:rPr>
              <a:t>Your private vault for personal finance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594"/>
                </a:solidFill>
              </a:rPr>
              <a:t>— data you own, secured by you.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30358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594"/>
                </a:solidFill>
              </a:rPr>
              <a:t>SOLID SERVER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017520" y="3236976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1E2740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2369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C"/>
                </a:solidFill>
              </a:rPr>
              <a:t>https://solidcommunity.au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371246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712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Connect My Vault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371246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F152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712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Continue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4133088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F152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Register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4133088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F152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Info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B6E"/>
                </a:solidFill>
              </a:rPr>
              <a:t>Your data lives in your Pod — not on our servers.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288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01 — Login Screen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740664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Dashboard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March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28800" y="566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896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March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21040" y="58521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585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Add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0" y="1133856"/>
            <a:ext cx="7132320" cy="896112"/>
          </a:xfrm>
          <a:prstGeom prst="roundRect">
            <a:avLst>
              <a:gd name="adj" fmla="val 10204"/>
            </a:avLst>
          </a:prstGeom>
          <a:solidFill>
            <a:srgbClr val="4F56F1"/>
          </a:solidFill>
          <a:ln/>
          <a:effectLst>
            <a:outerShdw sx="100000" sy="100000" kx="0" ky="0" algn="bl" rotWithShape="0" blurRad="152400" dist="38100" dir="8100000">
              <a:srgbClr val="4F56F1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0" y="896112"/>
            <a:ext cx="1280160" cy="128016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63000"/>
                  </a:srgbClr>
                </a:solidFill>
              </a:rPr>
              <a:t>TOTAL BALANCE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1680" y="1371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$4,280.50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011680" y="18288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</a:rPr>
              <a:t>Spent this month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011680" y="1956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$1,240.80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18288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</a:rPr>
              <a:t>Transactions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14800" y="1956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182880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</a:rPr>
              <a:t>Budgets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03520" y="1956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active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0" y="219456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938528" y="22494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Groceries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938528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$342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938528" y="26517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A0"/>
                </a:solidFill>
              </a:rPr>
              <a:t>68% of budget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24528" y="219456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34256" y="22494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Transport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334256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$89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34256" y="26517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A0"/>
                </a:solidFill>
              </a:rPr>
              <a:t>44% of budget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620256" y="219456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729984" y="22494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Dining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29984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$210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29984" y="26517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4F6B"/>
                </a:solidFill>
              </a:rPr>
              <a:t>105% ▲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28800" y="3017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SPENDING — LAST 6 MONTHS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828800" y="3200400"/>
            <a:ext cx="7132320" cy="804672"/>
          </a:xfrm>
          <a:prstGeom prst="roundRect">
            <a:avLst>
              <a:gd name="adj" fmla="val 11364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103120" y="358444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84962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594"/>
                </a:solidFill>
              </a:rPr>
              <a:t>Oct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163824" y="3493008"/>
            <a:ext cx="658368" cy="347472"/>
          </a:xfrm>
          <a:prstGeom prst="roundRect">
            <a:avLst>
              <a:gd name="adj" fmla="val 10526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63824" y="384962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594"/>
                </a:solidFill>
              </a:rPr>
              <a:t>Nov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224528" y="363931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24528" y="384962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594"/>
                </a:solidFill>
              </a:rPr>
              <a:t>Dec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5285232" y="3438144"/>
            <a:ext cx="658368" cy="402336"/>
          </a:xfrm>
          <a:prstGeom prst="roundRect">
            <a:avLst>
              <a:gd name="adj" fmla="val 9091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85232" y="384962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594"/>
                </a:solidFill>
              </a:rPr>
              <a:t>Jan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345936" y="3547872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384962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594"/>
                </a:solidFill>
              </a:rPr>
              <a:t>Feb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406640" y="338328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384962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1F5"/>
                </a:solidFill>
              </a:rPr>
              <a:t>Mar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828800" y="40965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RECENT TRANSACTIONS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828800" y="4261104"/>
            <a:ext cx="713232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38528" y="43159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/>
        </p:spPr>
      </p:sp>
      <p:sp>
        <p:nvSpPr>
          <p:cNvPr id="64" name="Text 62"/>
          <p:cNvSpPr/>
          <p:nvPr/>
        </p:nvSpPr>
        <p:spPr>
          <a:xfrm>
            <a:off x="1938528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🛒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304288" y="429768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Woolworths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304288" y="4462272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Groceries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046720" y="4297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-$84.20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046720" y="44622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Today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28800" y="4681728"/>
            <a:ext cx="713232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38528" y="47365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1A12"/>
          </a:solidFill>
          <a:ln/>
        </p:spPr>
      </p:sp>
      <p:sp>
        <p:nvSpPr>
          <p:cNvPr id="71" name="Text 69"/>
          <p:cNvSpPr/>
          <p:nvPr/>
        </p:nvSpPr>
        <p:spPr>
          <a:xfrm>
            <a:off x="1938528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🚌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304288" y="471830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Transport Canberra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304288" y="4882896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Transport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046720" y="4718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-$3.20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046720" y="488289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Yesterday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828800" y="5102352"/>
            <a:ext cx="713232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38528" y="51572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200"/>
          </a:solidFill>
          <a:ln/>
        </p:spPr>
      </p:sp>
      <p:sp>
        <p:nvSpPr>
          <p:cNvPr id="78" name="Text 76"/>
          <p:cNvSpPr/>
          <p:nvPr/>
        </p:nvSpPr>
        <p:spPr>
          <a:xfrm>
            <a:off x="1938528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🍜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304288" y="51389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Gong Cha Civic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304288" y="5303520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Dining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046720" y="5138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-$7.50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046720" y="53035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22 Mar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82880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02 — Dashboard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" y="1078992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23 entries · March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Transactions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896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23 entries · March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21040" y="58521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585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New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74520" y="1170432"/>
            <a:ext cx="7086600" cy="329184"/>
          </a:xfrm>
          <a:prstGeom prst="roundRect">
            <a:avLst>
              <a:gd name="adj" fmla="val 22222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1952" y="1207008"/>
            <a:ext cx="3472434" cy="256032"/>
          </a:xfrm>
          <a:prstGeom prst="roundRect">
            <a:avLst>
              <a:gd name="adj" fmla="val 21429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1952" y="1207008"/>
            <a:ext cx="34724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Entry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8686" y="1207008"/>
            <a:ext cx="3259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594"/>
                </a:solidFill>
              </a:rPr>
              <a:t>Import CSV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74520" y="159105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1F5"/>
                </a:solidFill>
              </a:rPr>
              <a:t>All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80360" y="159105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Groceries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86200" y="159105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Transport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92040" y="159105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Dining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897880" y="159105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Utilities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874520" y="1920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TODAY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874520" y="2093976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84248" y="21488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/>
        </p:spPr>
      </p:sp>
      <p:sp>
        <p:nvSpPr>
          <p:cNvPr id="42" name="Text 40"/>
          <p:cNvSpPr/>
          <p:nvPr/>
        </p:nvSpPr>
        <p:spPr>
          <a:xfrm>
            <a:off x="198424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50008" y="213055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Woolworths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350008" y="2295144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Groceries · 23 Mar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046720" y="21305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-$84.20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46720" y="229514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Saved to Pod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74520" y="2496312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84248" y="25511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1A12"/>
          </a:solidFill>
          <a:ln/>
        </p:spPr>
      </p:sp>
      <p:sp>
        <p:nvSpPr>
          <p:cNvPr id="49" name="Text 47"/>
          <p:cNvSpPr/>
          <p:nvPr/>
        </p:nvSpPr>
        <p:spPr>
          <a:xfrm>
            <a:off x="1984248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💊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350008" y="253288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Chemist Warehouse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50008" y="2697480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Health · 23 Mar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46720" y="2532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-$22.00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046720" y="26974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Saved to Pod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74520" y="296265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YESTERDAY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874520" y="3145536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84248" y="32004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1A12"/>
          </a:solidFill>
          <a:ln/>
        </p:spPr>
      </p:sp>
      <p:sp>
        <p:nvSpPr>
          <p:cNvPr id="57" name="Text 55"/>
          <p:cNvSpPr/>
          <p:nvPr/>
        </p:nvSpPr>
        <p:spPr>
          <a:xfrm>
            <a:off x="198424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🚌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350008" y="318211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Transport Canberra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350008" y="3346704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Transport · 22 Mar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046720" y="31821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-$3.20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046720" y="33467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Saved to Pod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874520" y="3547872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84248" y="36027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200"/>
          </a:solidFill>
          <a:ln/>
        </p:spPr>
      </p:sp>
      <p:sp>
        <p:nvSpPr>
          <p:cNvPr id="64" name="Text 62"/>
          <p:cNvSpPr/>
          <p:nvPr/>
        </p:nvSpPr>
        <p:spPr>
          <a:xfrm>
            <a:off x="1984248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🍜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350008" y="358444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Gong Cha Civic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350008" y="3749040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Dining · 22 Mar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046720" y="3584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-$7.50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046720" y="37490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Saved to Pod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74520" y="3950208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84248" y="400507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/>
        </p:spPr>
      </p:sp>
      <p:sp>
        <p:nvSpPr>
          <p:cNvPr id="71" name="Text 69"/>
          <p:cNvSpPr/>
          <p:nvPr/>
        </p:nvSpPr>
        <p:spPr>
          <a:xfrm>
            <a:off x="1984248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🛍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350008" y="3986784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Kmart Belconnen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350008" y="4151376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Other · 22 Mar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046720" y="39867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-$42.00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046720" y="415137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Saved to Pod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874520" y="44074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EARLIER THIS MONTH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874520" y="4581144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84248" y="46360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/>
        </p:spPr>
      </p:sp>
      <p:sp>
        <p:nvSpPr>
          <p:cNvPr id="79" name="Text 77"/>
          <p:cNvSpPr/>
          <p:nvPr/>
        </p:nvSpPr>
        <p:spPr>
          <a:xfrm>
            <a:off x="1984248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🛒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350008" y="4617720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Coles Braddon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350008" y="4782312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Groceries · 20 Mar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804672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-$116.40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046720" y="478231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Saved to Pod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874520" y="731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03 — Transactions (Manual Entry)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" y="1078992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23 entries · March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Transactions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874520" y="1005840"/>
            <a:ext cx="7086600" cy="329184"/>
          </a:xfrm>
          <a:prstGeom prst="roundRect">
            <a:avLst>
              <a:gd name="adj" fmla="val 22222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1042416"/>
            <a:ext cx="34724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594"/>
                </a:solidFill>
              </a:rPr>
              <a:t>Manual Entry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7820" y="1042416"/>
            <a:ext cx="3401568" cy="256032"/>
          </a:xfrm>
          <a:prstGeom prst="roundRect">
            <a:avLst>
              <a:gd name="adj" fmla="val 21429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7820" y="10424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 CSV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74520" y="1426464"/>
            <a:ext cx="7086600" cy="1170432"/>
          </a:xfrm>
          <a:prstGeom prst="roundRect">
            <a:avLst>
              <a:gd name="adj" fmla="val 7813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4B6E"/>
                </a:solidFill>
              </a:rPr>
              <a:t>REQUIRED CSV FORMAT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0" y="1709928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170992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1F5"/>
                </a:solidFill>
              </a:rPr>
              <a:t>date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926080" y="17099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Transaction date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955280" y="1709928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2A0A0E"/>
          </a:solidFill>
          <a:ln w="12700">
            <a:solidFill>
              <a:srgbClr val="FF4F6B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170992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4F6B"/>
                </a:solidFill>
              </a:rPr>
              <a:t>REQUIRED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011680" y="1883664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18836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1F5"/>
                </a:solidFill>
              </a:rPr>
              <a:t>merchant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26080" y="1883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Merchant or payee name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955280" y="1883664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2A0A0E"/>
          </a:solidFill>
          <a:ln w="12700">
            <a:solidFill>
              <a:srgbClr val="FF4F6B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18836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4F6B"/>
                </a:solidFill>
              </a:rPr>
              <a:t>REQUIRED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011680" y="2057400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20574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1F5"/>
                </a:solidFill>
              </a:rPr>
              <a:t>category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926080" y="205740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Groceries, Transport, etc.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955280" y="2057400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2A0A0E"/>
          </a:solidFill>
          <a:ln w="12700">
            <a:solidFill>
              <a:srgbClr val="FF4F6B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20574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4F6B"/>
                </a:solidFill>
              </a:rPr>
              <a:t>REQUIRED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011680" y="2231136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0" y="22311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1F5"/>
                </a:solidFill>
              </a:rPr>
              <a:t>amount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926080" y="223113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Positive decimal (e.g. 84.20)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955280" y="2231136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2A0A0E"/>
          </a:solidFill>
          <a:ln w="12700">
            <a:solidFill>
              <a:srgbClr val="FF4F6B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22311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4F6B"/>
                </a:solidFill>
              </a:rPr>
              <a:t>REQUIRED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011680" y="240487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2404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1F5"/>
                </a:solidFill>
              </a:rPr>
              <a:t>notes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926080" y="24048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Free text annotation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955280" y="240487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4F56F1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2404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B71F5"/>
                </a:solidFill>
              </a:rPr>
              <a:t>OPTIONAL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874520" y="2688336"/>
            <a:ext cx="7086600" cy="1298448"/>
          </a:xfrm>
          <a:prstGeom prst="roundRect">
            <a:avLst>
              <a:gd name="adj" fmla="val 7042"/>
            </a:avLst>
          </a:prstGeom>
          <a:solidFill>
            <a:srgbClr val="1A1E4A"/>
          </a:solidFill>
          <a:ln w="12700">
            <a:solidFill>
              <a:srgbClr val="4F56F1">
                <a:alpha val="45000"/>
              </a:srgbClr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5189220" y="2779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2788920" y="31455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Choose a CSV file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788920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Must contain date, merchant, category, amount columns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31920" y="362102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Browse Files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331720" y="4069080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B6E"/>
                </a:solidFill>
              </a:rPr>
              <a:t>Sanctum also exports CSVs in this format — re-import your own data at any time.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874520" y="731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04 — Transactions (Import CSV — Step 1: Schema)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" y="1078992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23 entries · March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Transactions — Import CSV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74520" y="987552"/>
            <a:ext cx="7086600" cy="566928"/>
          </a:xfrm>
          <a:prstGeom prst="roundRect">
            <a:avLst>
              <a:gd name="adj" fmla="val 16129"/>
            </a:avLst>
          </a:prstGeom>
          <a:solidFill>
            <a:srgbClr val="1E2740"/>
          </a:solidFill>
          <a:ln w="12700">
            <a:solidFill>
              <a:srgbClr val="00D4A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84248" y="10607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84248" y="1060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1097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transactions_march_2026.csv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1280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12 rows · 2.4 KB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11704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4F6B"/>
                </a:solidFill>
              </a:rPr>
              <a:t>Remove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74520" y="1645920"/>
            <a:ext cx="7086600" cy="987552"/>
          </a:xfrm>
          <a:prstGeom prst="roundRect">
            <a:avLst>
              <a:gd name="adj" fmla="val 9259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74520" y="1645920"/>
            <a:ext cx="7086600" cy="256032"/>
          </a:xfrm>
          <a:prstGeom prst="rect">
            <a:avLst/>
          </a:prstGeom>
          <a:solidFill>
            <a:srgbClr val="242E4A"/>
          </a:solidFill>
          <a:ln w="12700">
            <a:solidFill>
              <a:srgbClr val="24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4B6E"/>
                </a:solidFill>
              </a:rPr>
              <a:t>PREVIEW — FIRST 3 ROWS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65960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594"/>
                </a:solidFill>
              </a:rPr>
              <a:t>date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44952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594"/>
                </a:solidFill>
              </a:rPr>
              <a:t>merchant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64024" y="1938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594"/>
                </a:solidFill>
              </a:rPr>
              <a:t>category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17336" y="1938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594"/>
                </a:solidFill>
              </a:rPr>
              <a:t>amount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04888" y="1938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594"/>
                </a:solidFill>
              </a:rPr>
              <a:t>notes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2130552"/>
            <a:ext cx="7086600" cy="1645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21396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2026-03-01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044952" y="213969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Woolworths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64024" y="21396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Groceries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17336" y="213969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84.20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104888" y="21396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965960" y="23042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2026-03-03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44952" y="23042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Transport ACT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64024" y="23042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Transport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17336" y="2304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3.20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104888" y="23042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Bus fare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74520" y="2459736"/>
            <a:ext cx="7086600" cy="1645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24688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2026-03-05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044952" y="24688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ActewAGL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64024" y="24688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Utilities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17336" y="24688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180.00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104888" y="24688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8CC"/>
                </a:solidFill>
              </a:rPr>
              <a:t>March bill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874520" y="27249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0"/>
                </a:solidFill>
              </a:rPr>
              <a:t>12 rows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60320" y="2724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ready to import.  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0" y="27249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30"/>
                </a:solidFill>
              </a:rPr>
              <a:t>0 duplicates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26280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detected. All required columns found.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74520" y="3017520"/>
            <a:ext cx="1371600" cy="329184"/>
          </a:xfrm>
          <a:prstGeom prst="roundRect">
            <a:avLst>
              <a:gd name="adj" fmla="val 19444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3017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 to Pod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355848" y="3017520"/>
            <a:ext cx="914400" cy="329184"/>
          </a:xfrm>
          <a:prstGeom prst="roundRect">
            <a:avLst>
              <a:gd name="adj" fmla="val 19444"/>
            </a:avLst>
          </a:prstGeom>
          <a:solidFill>
            <a:srgbClr val="0A0E1A">
              <a:alpha val="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5848" y="3017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Cancel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74520" y="3456432"/>
            <a:ext cx="3657600" cy="219456"/>
          </a:xfrm>
          <a:prstGeom prst="roundRect">
            <a:avLst>
              <a:gd name="adj" fmla="val 16667"/>
            </a:avLst>
          </a:prstGeom>
          <a:solidFill>
            <a:srgbClr val="001A12"/>
          </a:solidFill>
          <a:ln w="12700">
            <a:solidFill>
              <a:srgbClr val="00D4A0">
                <a:alpha val="2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84248" y="3538728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03120" y="34564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A0"/>
                </a:solidFill>
              </a:rPr>
              <a:t>Will save to sanctum/transactions/ in your Pod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874520" y="731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05 — Transactions (Import CSV — Step 2: File Selected)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" y="1078992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Importing...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Transactions — Import CSV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74520" y="1097280"/>
            <a:ext cx="7086600" cy="1097280"/>
          </a:xfrm>
          <a:prstGeom prst="roundRect">
            <a:avLst>
              <a:gd name="adj" fmla="val 8333"/>
            </a:avLst>
          </a:prstGeom>
          <a:solidFill>
            <a:srgbClr val="1E2740"/>
          </a:solidFill>
          <a:ln w="12700">
            <a:solidFill>
              <a:srgbClr val="4F56F1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225296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C"/>
                </a:solidFill>
              </a:rPr>
              <a:t>Encrypting records...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1572768"/>
            <a:ext cx="6720840" cy="91440"/>
          </a:xfrm>
          <a:prstGeom prst="roundRect">
            <a:avLst>
              <a:gd name="adj" fmla="val 500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1572768"/>
            <a:ext cx="5376672" cy="91440"/>
          </a:xfrm>
          <a:prstGeom prst="roundRect">
            <a:avLst>
              <a:gd name="adj" fmla="val 50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1719072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Processing record 10 of 12...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57400" y="237744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31720" y="237744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CSV file read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57400" y="26517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31720" y="265176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Format validated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57400" y="292608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31720" y="292608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Duplicates checked — 0 found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57400" y="320040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31720" y="320040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0"/>
                </a:solidFill>
              </a:rPr>
              <a:t>Saving records to Pod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4747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030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31720" y="347472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030"/>
                </a:solidFill>
              </a:rPr>
              <a:t>Encrypting records...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57400" y="374904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E"/>
                </a:solidFill>
              </a:rPr>
              <a:t>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31720" y="374904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E"/>
                </a:solidFill>
              </a:rPr>
              <a:t>Finalising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731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06 — Transactions (Import CSV — Step 3: Progress)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" y="1078992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Import complete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Transactions — Import CSV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74520" y="1005840"/>
            <a:ext cx="7086600" cy="804672"/>
          </a:xfrm>
          <a:prstGeom prst="roundRect">
            <a:avLst>
              <a:gd name="adj" fmla="val 11364"/>
            </a:avLst>
          </a:prstGeom>
          <a:solidFill>
            <a:srgbClr val="001A12"/>
          </a:solidFill>
          <a:ln w="12700">
            <a:solidFill>
              <a:srgbClr val="00D4A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0" y="10789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0"/>
                </a:solidFill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331720" y="1444752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0"/>
                </a:solidFill>
              </a:rPr>
              <a:t>12 transactions imported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31720" y="166420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All records saved to your Pod as encrypted .enc.ttl files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74520" y="1920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JUST IMPORTED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74520" y="2103120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4248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/>
        </p:spPr>
      </p:sp>
      <p:sp>
        <p:nvSpPr>
          <p:cNvPr id="29" name="Text 27"/>
          <p:cNvSpPr/>
          <p:nvPr/>
        </p:nvSpPr>
        <p:spPr>
          <a:xfrm>
            <a:off x="1984248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50008" y="213969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Woolworths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50008" y="2304288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Groceries · 1 Mar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46720" y="21396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-$84.20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230428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Imported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74520" y="2505456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84248" y="25603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1A12"/>
          </a:solidFill>
          <a:ln/>
        </p:spPr>
      </p:sp>
      <p:sp>
        <p:nvSpPr>
          <p:cNvPr id="36" name="Text 34"/>
          <p:cNvSpPr/>
          <p:nvPr/>
        </p:nvSpPr>
        <p:spPr>
          <a:xfrm>
            <a:off x="198424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50008" y="254203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Transport ACT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50008" y="2706624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Transport · 3 Mar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46720" y="25420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-$3.20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270662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Imported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874520" y="2907792"/>
            <a:ext cx="7086600" cy="384048"/>
          </a:xfrm>
          <a:prstGeom prst="rect">
            <a:avLst/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84248" y="29626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0A00"/>
          </a:solidFill>
          <a:ln/>
        </p:spPr>
      </p:sp>
      <p:sp>
        <p:nvSpPr>
          <p:cNvPr id="43" name="Text 41"/>
          <p:cNvSpPr/>
          <p:nvPr/>
        </p:nvSpPr>
        <p:spPr>
          <a:xfrm>
            <a:off x="1984248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⚡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50008" y="294436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ActewAGL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50008" y="3108960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Utilities · 5 Mar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046720" y="29443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4F6B"/>
                </a:solidFill>
              </a:rPr>
              <a:t>-$180.00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31089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Imported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874520" y="3419856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74520" y="34198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 Another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10712" y="3419856"/>
            <a:ext cx="1645920" cy="329184"/>
          </a:xfrm>
          <a:prstGeom prst="roundRect">
            <a:avLst>
              <a:gd name="adj" fmla="val 19444"/>
            </a:avLst>
          </a:prstGeom>
          <a:solidFill>
            <a:srgbClr val="0A0E1A">
              <a:alpha val="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10712" y="34198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C"/>
                </a:solidFill>
              </a:rPr>
              <a:t>View All Transactions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874520" y="731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07 — Transactions (Import CSV — Step 4: Success)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9728" y="1417320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Budgets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March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Budgets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896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March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21040" y="58521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585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New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74520" y="1133856"/>
            <a:ext cx="3401568" cy="603504"/>
          </a:xfrm>
          <a:prstGeom prst="roundRect">
            <a:avLst>
              <a:gd name="adj" fmla="val 15152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11680" y="1188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Total budgeted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0116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$2,200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40680" y="1133856"/>
            <a:ext cx="3401568" cy="603504"/>
          </a:xfrm>
          <a:prstGeom prst="roundRect">
            <a:avLst>
              <a:gd name="adj" fmla="val 15152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1188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Total spent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030"/>
                </a:solidFill>
              </a:rPr>
              <a:t>$1,240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74520" y="18653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ACTIVE BUDGETS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874520" y="2048256"/>
            <a:ext cx="7086600" cy="502920"/>
          </a:xfrm>
          <a:prstGeom prst="roundRect">
            <a:avLst>
              <a:gd name="adj" fmla="val 14545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84248" y="2103120"/>
            <a:ext cx="3897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Groceries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72150" y="21031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$342 of $500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984248" y="2350008"/>
            <a:ext cx="6867144" cy="64008"/>
          </a:xfrm>
          <a:prstGeom prst="roundRect">
            <a:avLst>
              <a:gd name="adj" fmla="val 500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84248" y="2350008"/>
            <a:ext cx="4669658" cy="64008"/>
          </a:xfrm>
          <a:prstGeom prst="roundRect">
            <a:avLst>
              <a:gd name="adj" fmla="val 50000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3500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68%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74520" y="2633472"/>
            <a:ext cx="7086600" cy="502920"/>
          </a:xfrm>
          <a:prstGeom prst="roundRect">
            <a:avLst>
              <a:gd name="adj" fmla="val 14545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84248" y="2688336"/>
            <a:ext cx="3897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Dining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72150" y="26883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$210 of $200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984248" y="2935224"/>
            <a:ext cx="6867144" cy="64008"/>
          </a:xfrm>
          <a:prstGeom prst="roundRect">
            <a:avLst>
              <a:gd name="adj" fmla="val 500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84248" y="2935224"/>
            <a:ext cx="6798473" cy="64008"/>
          </a:xfrm>
          <a:prstGeom prst="roundRect">
            <a:avLst>
              <a:gd name="adj" fmla="val 50000"/>
            </a:avLst>
          </a:prstGeom>
          <a:solidFill>
            <a:srgbClr val="FF4F6B"/>
          </a:solidFill>
          <a:ln w="12700">
            <a:solidFill>
              <a:srgbClr val="FF4F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29352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4F6B"/>
                </a:solidFill>
              </a:rPr>
              <a:t>99%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874520" y="3218688"/>
            <a:ext cx="7086600" cy="502920"/>
          </a:xfrm>
          <a:prstGeom prst="roundRect">
            <a:avLst>
              <a:gd name="adj" fmla="val 14545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84248" y="3273552"/>
            <a:ext cx="3897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Transport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72150" y="3273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$89 of $200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984248" y="3520440"/>
            <a:ext cx="6867144" cy="64008"/>
          </a:xfrm>
          <a:prstGeom prst="roundRect">
            <a:avLst>
              <a:gd name="adj" fmla="val 500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84248" y="3520440"/>
            <a:ext cx="3021543" cy="64008"/>
          </a:xfrm>
          <a:prstGeom prst="roundRect">
            <a:avLst>
              <a:gd name="adj" fmla="val 50000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35204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44%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874520" y="3803904"/>
            <a:ext cx="7086600" cy="502920"/>
          </a:xfrm>
          <a:prstGeom prst="roundRect">
            <a:avLst>
              <a:gd name="adj" fmla="val 14545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84248" y="3858768"/>
            <a:ext cx="3897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Entertainment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72150" y="38587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$118 of $150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984248" y="4105656"/>
            <a:ext cx="6867144" cy="64008"/>
          </a:xfrm>
          <a:prstGeom prst="roundRect">
            <a:avLst>
              <a:gd name="adj" fmla="val 500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84248" y="4105656"/>
            <a:ext cx="5425044" cy="64008"/>
          </a:xfrm>
          <a:prstGeom prst="roundRect">
            <a:avLst>
              <a:gd name="adj" fmla="val 50000"/>
            </a:avLst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0" y="41056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A030"/>
                </a:solidFill>
              </a:rPr>
              <a:t>79%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874520" y="4389120"/>
            <a:ext cx="7086600" cy="502920"/>
          </a:xfrm>
          <a:prstGeom prst="roundRect">
            <a:avLst>
              <a:gd name="adj" fmla="val 14545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84248" y="4443984"/>
            <a:ext cx="3897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Utilities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772150" y="44439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$180 of $300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984248" y="4690872"/>
            <a:ext cx="6867144" cy="64008"/>
          </a:xfrm>
          <a:prstGeom prst="roundRect">
            <a:avLst>
              <a:gd name="adj" fmla="val 50000"/>
            </a:avLst>
          </a:prstGeom>
          <a:solidFill>
            <a:srgbClr val="2A3554"/>
          </a:solidFill>
          <a:ln w="12700">
            <a:solidFill>
              <a:srgbClr val="2A355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84248" y="4690872"/>
            <a:ext cx="4120286" cy="64008"/>
          </a:xfrm>
          <a:prstGeom prst="roundRect">
            <a:avLst>
              <a:gd name="adj" fmla="val 50000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0" y="46908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60%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87452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08 — Budgets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" y="1755648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Bills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4 upcoming · 2 recurring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Bills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896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4 upcoming · 2 recurring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21040" y="58521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585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Add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874520" y="11521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UPCOMING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74520" y="1335024"/>
            <a:ext cx="7086600" cy="457200"/>
          </a:xfrm>
          <a:prstGeom prst="roundRect">
            <a:avLst>
              <a:gd name="adj" fmla="val 16000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84248" y="14264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E4A"/>
          </a:solidFill>
          <a:ln/>
        </p:spPr>
      </p:sp>
      <p:sp>
        <p:nvSpPr>
          <p:cNvPr id="28" name="Text 26"/>
          <p:cNvSpPr/>
          <p:nvPr/>
        </p:nvSpPr>
        <p:spPr>
          <a:xfrm>
            <a:off x="1984248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138988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Netflix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31720" y="1572768"/>
            <a:ext cx="5532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Due 28 Mar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955280" y="13898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$22.99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01000" y="158191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1A1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15819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MONTHLY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874520" y="1865376"/>
            <a:ext cx="7086600" cy="457200"/>
          </a:xfrm>
          <a:prstGeom prst="roundRect">
            <a:avLst>
              <a:gd name="adj" fmla="val 16000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84248" y="19568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0A00"/>
          </a:solidFill>
          <a:ln/>
        </p:spPr>
      </p:sp>
      <p:sp>
        <p:nvSpPr>
          <p:cNvPr id="36" name="Text 34"/>
          <p:cNvSpPr/>
          <p:nvPr/>
        </p:nvSpPr>
        <p:spPr>
          <a:xfrm>
            <a:off x="1984248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⚡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192024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ActewAGL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31720" y="2103120"/>
            <a:ext cx="5532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Due 1 Apr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955280" y="192024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$180.00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01000" y="2112264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2A0A00"/>
          </a:solidFill>
          <a:ln w="12700">
            <a:solidFill>
              <a:srgbClr val="2A0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21122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DUE SOON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1874520" y="2395728"/>
            <a:ext cx="7086600" cy="457200"/>
          </a:xfrm>
          <a:prstGeom prst="roundRect">
            <a:avLst>
              <a:gd name="adj" fmla="val 16000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84248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1A12"/>
          </a:solidFill>
          <a:ln/>
        </p:spPr>
      </p:sp>
      <p:sp>
        <p:nvSpPr>
          <p:cNvPr id="44" name="Text 42"/>
          <p:cNvSpPr/>
          <p:nvPr/>
        </p:nvSpPr>
        <p:spPr>
          <a:xfrm>
            <a:off x="198424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331720" y="245059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Vodafone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331720" y="2633472"/>
            <a:ext cx="5532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Due 5 Apr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955280" y="245059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$45.00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01000" y="2642616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1A1E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01000" y="26426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MONTHLY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1874520" y="2926080"/>
            <a:ext cx="7086600" cy="457200"/>
          </a:xfrm>
          <a:prstGeom prst="roundRect">
            <a:avLst>
              <a:gd name="adj" fmla="val 16000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84248" y="30175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A1000"/>
          </a:solidFill>
          <a:ln/>
        </p:spPr>
      </p:sp>
      <p:sp>
        <p:nvSpPr>
          <p:cNvPr id="52" name="Text 50"/>
          <p:cNvSpPr/>
          <p:nvPr/>
        </p:nvSpPr>
        <p:spPr>
          <a:xfrm>
            <a:off x="198424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331720" y="2980944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Aussie Broadband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331720" y="3163824"/>
            <a:ext cx="5532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594"/>
                </a:solidFill>
              </a:rPr>
              <a:t>Due 10 Apr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955280" y="29809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$79.00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001000" y="3172968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A1E4A"/>
          </a:solidFill>
          <a:ln w="12700">
            <a:solidFill>
              <a:srgbClr val="1A1E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01000" y="31729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MONTHLY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1874520" y="35112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D4B6E"/>
                </a:solidFill>
              </a:rPr>
              <a:t>RECENTLY PAID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874520" y="3694176"/>
            <a:ext cx="7086600" cy="457200"/>
          </a:xfrm>
          <a:prstGeom prst="roundRect">
            <a:avLst>
              <a:gd name="adj" fmla="val 16000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74520" y="3694176"/>
            <a:ext cx="7086600" cy="457200"/>
          </a:xfrm>
          <a:prstGeom prst="roundRect">
            <a:avLst>
              <a:gd name="adj" fmla="val 16000"/>
            </a:avLst>
          </a:prstGeom>
          <a:solidFill>
            <a:srgbClr val="0F1525">
              <a:alpha val="50000"/>
            </a:srgbClr>
          </a:solidFill>
          <a:ln w="12700">
            <a:solidFill>
              <a:srgbClr val="0F1525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84248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🎵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331720" y="38039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594"/>
                </a:solidFill>
              </a:rPr>
              <a:t>Spotify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331720" y="39684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Paid 18 Mar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955280" y="38039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$11.99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001000" y="3968496"/>
            <a:ext cx="822960" cy="128016"/>
          </a:xfrm>
          <a:prstGeom prst="roundRect">
            <a:avLst>
              <a:gd name="adj" fmla="val 21429"/>
            </a:avLst>
          </a:prstGeom>
          <a:solidFill>
            <a:srgbClr val="001A12"/>
          </a:solidFill>
          <a:ln w="12700">
            <a:solidFill>
              <a:srgbClr val="00D4A0">
                <a:alpha val="5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01000" y="396849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D4A0"/>
                </a:solidFill>
              </a:rPr>
              <a:t>PAID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187452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09 — Bills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5143500"/>
          </a:xfrm>
          <a:prstGeom prst="rect">
            <a:avLst/>
          </a:prstGeom>
          <a:solidFill>
            <a:srgbClr val="0F1525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28216" y="0"/>
            <a:ext cx="9144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5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SANCTUM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2212848"/>
            <a:ext cx="1408176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772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115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14538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Budgets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7922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Bills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9728" y="2359152"/>
            <a:ext cx="1517904" cy="292608"/>
          </a:xfrm>
          <a:prstGeom prst="roundRect">
            <a:avLst>
              <a:gd name="adj" fmla="val 1562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395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1F5"/>
                </a:solidFill>
              </a:rPr>
              <a:t>Add Transaction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4480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8A"/>
                </a:solidFill>
              </a:rPr>
              <a:t>Logout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0"/>
            <a:ext cx="740664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48056"/>
            <a:ext cx="7406640" cy="914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Saved to your Pod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1A12"/>
          </a:solidFill>
          <a:ln w="12700">
            <a:solidFill>
              <a:srgbClr val="00D4A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182880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91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0"/>
                </a:solidFill>
              </a:rPr>
              <a:t>Vault connected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74520" y="566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Add Transaction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896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594"/>
                </a:solidFill>
              </a:rPr>
              <a:t>Saved to your Pod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74520" y="1133856"/>
            <a:ext cx="7086600" cy="3547872"/>
          </a:xfrm>
          <a:prstGeom prst="roundRect">
            <a:avLst>
              <a:gd name="adj" fmla="val 2577"/>
            </a:avLst>
          </a:prstGeom>
          <a:solidFill>
            <a:srgbClr val="1E2740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1207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594"/>
                </a:solidFill>
              </a:rPr>
              <a:t>AMOUNT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11680" y="1408176"/>
            <a:ext cx="6812280" cy="402336"/>
          </a:xfrm>
          <a:prstGeom prst="roundRect">
            <a:avLst>
              <a:gd name="adj" fmla="val 15909"/>
            </a:avLst>
          </a:prstGeom>
          <a:solidFill>
            <a:srgbClr val="242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1408176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  0.00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01168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594"/>
                </a:solidFill>
              </a:rPr>
              <a:t>MERCHANT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0" y="2103120"/>
            <a:ext cx="6812280" cy="329184"/>
          </a:xfrm>
          <a:prstGeom prst="roundRect">
            <a:avLst>
              <a:gd name="adj" fmla="val 19444"/>
            </a:avLst>
          </a:prstGeom>
          <a:solidFill>
            <a:srgbClr val="242E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0552" y="2103120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4"/>
                </a:solidFill>
              </a:rPr>
              <a:t>e.g. Woolworths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0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594"/>
                </a:solidFill>
              </a:rPr>
              <a:t>CATEGORY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11680" y="27249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1A1E4A"/>
          </a:solidFill>
          <a:ln w="12700">
            <a:solidFill>
              <a:srgbClr val="4F56F1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27249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1F5"/>
                </a:solidFill>
              </a:rPr>
              <a:t>🛒 Groceries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63824" y="27249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3824" y="27249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🚌 Transport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15968" y="27249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27249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🍜 Dining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27249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27249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💊 Health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620256" y="27249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27249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⚡ Utilities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772400" y="27249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0A0E1A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7249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594"/>
                </a:solidFill>
              </a:rPr>
              <a:t>🎮 Other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011680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594"/>
                </a:solidFill>
              </a:rPr>
              <a:t>DATE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0" y="3273552"/>
            <a:ext cx="6812280" cy="310896"/>
          </a:xfrm>
          <a:prstGeom prst="roundRect">
            <a:avLst>
              <a:gd name="adj" fmla="val 20588"/>
            </a:avLst>
          </a:prstGeom>
          <a:solidFill>
            <a:srgbClr val="242E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30552" y="327355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C"/>
                </a:solidFill>
              </a:rPr>
              <a:t>23 March 2026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11680" y="36941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594"/>
                </a:solidFill>
              </a:rPr>
              <a:t>NOTES (OPTIONAL)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11680" y="3895344"/>
            <a:ext cx="6812280" cy="475488"/>
          </a:xfrm>
          <a:prstGeom prst="roundRect">
            <a:avLst>
              <a:gd name="adj" fmla="val 13462"/>
            </a:avLst>
          </a:prstGeom>
          <a:solidFill>
            <a:srgbClr val="242E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30552" y="3895344"/>
            <a:ext cx="6537960" cy="47548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594"/>
                </a:solidFill>
              </a:rPr>
              <a:t>Add a note...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11680" y="4480560"/>
            <a:ext cx="2011680" cy="347472"/>
          </a:xfrm>
          <a:prstGeom prst="roundRect">
            <a:avLst>
              <a:gd name="adj" fmla="val 18421"/>
            </a:avLst>
          </a:prstGeom>
          <a:solidFill>
            <a:srgbClr val="4F56F1"/>
          </a:solidFill>
          <a:ln w="12700">
            <a:solidFill>
              <a:srgbClr val="4F5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 to Pod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60520" y="448056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0A0E1A">
              <a:alpha val="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4480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C"/>
                </a:solidFill>
              </a:rPr>
              <a:t>Clear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74520" y="4892040"/>
            <a:ext cx="7086600" cy="219456"/>
          </a:xfrm>
          <a:prstGeom prst="roundRect">
            <a:avLst>
              <a:gd name="adj" fmla="val 25000"/>
            </a:avLst>
          </a:prstGeom>
          <a:solidFill>
            <a:srgbClr val="1E2740"/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84248" y="4965192"/>
            <a:ext cx="73152" cy="7315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03120" y="489204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594"/>
                </a:solidFill>
              </a:rPr>
              <a:t>Encrypted and saved to  sanctum/transactions/  in your Pod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87452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4B6E"/>
                </a:solidFill>
              </a:rPr>
              <a:t>10 — Add Transaction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Sanctum — Full App Mockup</dc:title>
  <dc:subject>PptxGenJS Presentation</dc:subject>
  <dc:creator>Cyrill Adrian Wicaksono</dc:creator>
  <cp:lastModifiedBy>Cyrill Adrian Wicaksono</cp:lastModifiedBy>
  <cp:revision>1</cp:revision>
  <dcterms:created xsi:type="dcterms:W3CDTF">2026-03-23T05:24:54Z</dcterms:created>
  <dcterms:modified xsi:type="dcterms:W3CDTF">2026-03-23T05:24:54Z</dcterms:modified>
</cp:coreProperties>
</file>